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3000" b="1">
                <a:solidFill>
                  <a:srgbClr val="183153"/>
                </a:solidFill>
                <a:latin typeface="Aptos"/>
              </a:defRPr>
            </a:pPr>
            <a:r>
              <a:t>EMPLOYEE LEAVE</a:t>
            </a:r>
          </a:p>
          <a:p>
            <a:pPr>
              <a:spcAft>
                <a:spcPts val="800"/>
              </a:spcAft>
              <a:defRPr sz="3000" b="0">
                <a:solidFill>
                  <a:srgbClr val="183153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 b="0">
                <a:solidFill>
                  <a:srgbClr val="183153"/>
                </a:solidFill>
                <a:latin typeface="Aptos"/>
              </a:defRPr>
            </a:pPr>
            <a:r>
              <a:t>Team No: ______</a:t>
            </a:r>
          </a:p>
          <a:p>
            <a:pPr>
              <a:spcAft>
                <a:spcPts val="1200"/>
              </a:spcAft>
              <a:defRPr sz="2000" b="1">
                <a:solidFill>
                  <a:srgbClr val="2A333D"/>
                </a:solidFill>
                <a:latin typeface="Aptos"/>
              </a:defRPr>
            </a:pPr>
            <a:r>
              <a:t>Charan Tej  |  Roll No: 2620030291</a:t>
            </a:r>
          </a:p>
          <a:p>
            <a:pPr>
              <a:spcAft>
                <a:spcPts val="1200"/>
              </a:spcAft>
              <a:defRPr sz="2000" b="1">
                <a:solidFill>
                  <a:srgbClr val="2A333D"/>
                </a:solidFill>
                <a:latin typeface="Aptos"/>
              </a:defRPr>
            </a:pPr>
            <a:r>
              <a:t>Sanjay Reddy  |  Roll No: 2620080006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 b="1">
                <a:solidFill>
                  <a:srgbClr val="183153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/>
          <a:lstStyle/>
          <a:p>
            <a:pPr>
              <a:spcAft>
                <a:spcPts val="1000"/>
              </a:spcAft>
              <a:defRPr sz="2000">
                <a:solidFill>
                  <a:srgbClr val="2A333D"/>
                </a:solidFill>
                <a:latin typeface="Aptos"/>
              </a:defRPr>
            </a:pPr>
            <a:r>
              <a:t>The Employee Leave Management System is a simple digital solution for handling employee leave requests.</a:t>
            </a:r>
            <a:endParaRPr lang="en-IN"/>
          </a:p>
          <a:p>
            <a:pPr>
              <a:spcAft>
                <a:spcPts val="1000"/>
              </a:spcAft>
              <a:defRPr sz="2000">
                <a:solidFill>
                  <a:srgbClr val="2A333D"/>
                </a:solidFill>
                <a:latin typeface="Aptos"/>
              </a:defRPr>
            </a:pPr>
            <a:r>
              <a:t>Employees can submit leave dates and reasons. The manager checks the request and approves or rejects it.</a:t>
            </a:r>
          </a:p>
          <a:p>
            <a:pPr>
              <a:spcAft>
                <a:spcPts val="1000"/>
              </a:spcAft>
              <a:defRPr sz="2000">
                <a:solidFill>
                  <a:srgbClr val="2A333D"/>
                </a:solidFill>
                <a:latin typeface="Aptos"/>
              </a:defRPr>
            </a:pPr>
            <a:r>
              <a:t>The system keeps leave records, shows request status, and helps reduce paperwork and manual mistakes.</a:t>
            </a:r>
          </a:p>
          <a:p>
            <a:pPr>
              <a:spcAft>
                <a:spcPts val="1000"/>
              </a:spcAft>
              <a:defRPr sz="2000">
                <a:solidFill>
                  <a:srgbClr val="2A333D"/>
                </a:solidFill>
                <a:latin typeface="Aptos"/>
              </a:defRPr>
            </a:pPr>
            <a:r>
              <a:t>This presentation connects the system to digital design ideas: binary decisions, logic conditions, state transitions, memory, and processor-based execution.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 b="1">
                <a:solidFill>
                  <a:srgbClr val="183153"/>
                </a:solidFill>
                <a:latin typeface="Aptos"/>
              </a:defRPr>
            </a:pPr>
            <a:r>
              <a:t>Understanding the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/>
          <a:lstStyle/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Problem: Leave requests handled through messages or paper can be delayed, misplaced, or difficult to track.</a:t>
            </a:r>
            <a:endParaRPr lang="en-IN"/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Users: Employee, Manager / HR, and System Administrator.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Inputs: Employee ID, leave type, start date, end date, reason, and available leave balance.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Processing: Check required fields, check leave balance, submit request, and record manager decision.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Outputs: Request status (Pending / Approved / Rejected), leave balance, and a leave history report.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Goal: Make leave tracking clear, quick, consistent, and easy to audit.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3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 b="1">
                <a:solidFill>
                  <a:srgbClr val="183153"/>
                </a:solidFill>
                <a:latin typeface="Aptos"/>
              </a:defRPr>
            </a:pPr>
            <a:r>
              <a:t>CO1 – Digital Foundations and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/>
          <a:lstStyle/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Represent each decision using binary values: 1 = Yes / True, 0 = No / False.</a:t>
            </a:r>
            <a:endParaRPr lang="en-IN"/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Example inputs: B = leave balance is enough; F = request form is complete; M = manager approves.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A request can be accepted for review when: VALID = B AND F.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Logic gates: AND checks that both conditions are true; OR can check whether any alert condition exists; NOT can invert a condition.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Example: if balance is not enough, NOT(B) becomes 1 and the system can show a warning.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Digital design link: binary states and Boolean logic help make decisions consistent.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4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 b="1">
                <a:solidFill>
                  <a:srgbClr val="183153"/>
                </a:solidFill>
                <a:latin typeface="Aptos"/>
              </a:defRPr>
            </a:pPr>
            <a:r>
              <a:t>CO2 – Combinational Logic and ALU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/>
          <a:lstStyle/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Combinational logic produces an output from the current inputs.</a:t>
            </a:r>
            <a:endParaRPr lang="en-IN"/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Leave validation example: VALID = FORM_OK AND BALANCE_OK AND DATES_OK.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If any required condition is 0, VALID becomes 0 and the system asks the employee to correct the request.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A multiplexer idea can select which message to show: missing details, insufficient balance, or request submitted.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An ALU performs arithmetic and comparisons; in this system, similar operations can calculate leave days and compare days requested with balance.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Example: DAYS_REQUESTED ≤ LEAVE_BALANCE is a comparison used during validation.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5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 b="1">
                <a:solidFill>
                  <a:srgbClr val="183153"/>
                </a:solidFill>
                <a:latin typeface="Aptos"/>
              </a:defRPr>
            </a:pPr>
            <a:r>
              <a:t>CO3 – Sequential Logic and State 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/>
          <a:lstStyle/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A leave request changes over time, so its status must be remembered.</a:t>
            </a:r>
            <a:endParaRPr lang="en-IN"/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Possible states: Draft → Pending → Approved or Rejected.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Only the manager's decision moves a Pending request to Approved or Rejected.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A finite state machine (FSM) represents these states and the events that cause transitions.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Registers / flip-flops are digital building blocks that store state; a clocked system updates state at defined times.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Example rule: if status = Pending and manager approves = 1, next status = Approved.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 b="1">
                <a:solidFill>
                  <a:srgbClr val="183153"/>
                </a:solidFill>
                <a:latin typeface="Aptos"/>
              </a:defRPr>
            </a:pPr>
            <a:r>
              <a:t>CO4 – Registers, Memory and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/>
          <a:lstStyle/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The system needs to store employee details, leave balances, and leave request history.</a:t>
            </a:r>
            <a:endParaRPr lang="en-IN"/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In a digital design model, registers hold current values while memory stores larger sets of records.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Each request can have an ID, employee ID, leave dates, leave type, status, and manager comment.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Records should be retrieved by employee ID or request ID and updated when a decision is made.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Memory hierarchy concept: fast small storage is useful for active values; larger storage keeps long-term records.</a:t>
            </a:r>
          </a:p>
          <a:p>
            <a:pPr>
              <a:spcAft>
                <a:spcPts val="1000"/>
              </a:spcAft>
              <a:defRPr sz="1800">
                <a:solidFill>
                  <a:srgbClr val="2A333D"/>
                </a:solidFill>
                <a:latin typeface="Aptos"/>
              </a:defRPr>
            </a:pPr>
            <a:r>
              <a:t>Good record keeping makes it easier to review past leave and prepare reports.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7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 b="1">
                <a:solidFill>
                  <a:srgbClr val="183153"/>
                </a:solidFill>
                <a:latin typeface="Aptos"/>
              </a:defRPr>
            </a:pPr>
            <a:r>
              <a:t>CO5 – RISC-V Processor and Processing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/>
          <a:lstStyle/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The RISC-V processor model shows how instructions are fetched, decoded, and executed.</a:t>
            </a:r>
            <a:endParaRPr lang="en-IN"/>
          </a:p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A simplified leave-processing algorithm can be represented as steps:</a:t>
            </a:r>
          </a:p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1. Read request details.  2. Check form and balance.  3. Mark request Pending.  4. Read manager decision.  5. Update status and record.</a:t>
            </a:r>
          </a:p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Arithmetic instructions can support counting leave days; comparison and branch instructions can represent checks and decision paths.</a:t>
            </a:r>
          </a:p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The program counter tracks the next instruction, while the control unit selects the operation to perform.</a:t>
            </a:r>
          </a:p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This is a conceptual mapping of leave workflow to processor concepts, not a claim that a full leave application runs on a custom CPU.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8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 b="1">
                <a:solidFill>
                  <a:srgbClr val="183153"/>
                </a:solidFill>
                <a:latin typeface="Aptos"/>
              </a:defRPr>
            </a:pPr>
            <a:r>
              <a:t>CO6 – Integration, Testing and Extension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/>
          <a:lstStyle/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Integrate the workflow as one system: input → validation → decision → record update → status display.</a:t>
            </a:r>
            <a:endParaRPr lang="en-IN"/>
          </a:p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Test 1: Complete form + enough balance → request becomes Pending.</a:t>
            </a:r>
          </a:p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Test 2: Missing date or reason → validation warning appears.</a:t>
            </a:r>
          </a:p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Test 3: Insufficient leave balance → request is not submitted.</a:t>
            </a:r>
          </a:p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Test 4: Manager approves / rejects → saved status and leave history update correctly.</a:t>
            </a:r>
          </a:p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Possible extensions: email notifications, calendar view, role-based access, reports, and a dashboard.</a:t>
            </a:r>
          </a:p>
          <a:p>
            <a:pPr>
              <a:spcAft>
                <a:spcPts val="10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Verification means checking that every input and decision produces the expected result.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9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 b="1">
                <a:solidFill>
                  <a:srgbClr val="18315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/>
          <a:lstStyle/>
          <a:p>
            <a:pPr>
              <a:spcAft>
                <a:spcPts val="1000"/>
              </a:spcAft>
              <a:defRPr sz="2000">
                <a:solidFill>
                  <a:srgbClr val="2A333D"/>
                </a:solidFill>
                <a:latin typeface="Aptos"/>
              </a:defRPr>
            </a:pPr>
            <a:r>
              <a:t>The Employee Leave Management System provides a structured way to submit, review, and track leave.</a:t>
            </a:r>
            <a:endParaRPr lang="en-IN"/>
          </a:p>
          <a:p>
            <a:pPr>
              <a:spcAft>
                <a:spcPts val="1000"/>
              </a:spcAft>
              <a:defRPr sz="2000">
                <a:solidFill>
                  <a:srgbClr val="2A333D"/>
                </a:solidFill>
                <a:latin typeface="Aptos"/>
              </a:defRPr>
            </a:pPr>
            <a:r>
              <a:t>It reduces manual work and makes the request status visible to employees and managers.</a:t>
            </a:r>
          </a:p>
          <a:p>
            <a:pPr>
              <a:spcAft>
                <a:spcPts val="1000"/>
              </a:spcAft>
              <a:defRPr sz="2000">
                <a:solidFill>
                  <a:srgbClr val="2A333D"/>
                </a:solidFill>
                <a:latin typeface="Aptos"/>
              </a:defRPr>
            </a:pPr>
            <a:r>
              <a:t>The project illustrates the DDCA handout concepts through binary logic, combinational decisions, sequential states, memory, and processor workflow.</a:t>
            </a:r>
          </a:p>
          <a:p>
            <a:pPr>
              <a:spcAft>
                <a:spcPts val="1000"/>
              </a:spcAft>
              <a:defRPr sz="2000">
                <a:solidFill>
                  <a:srgbClr val="2A333D"/>
                </a:solidFill>
                <a:latin typeface="Aptos"/>
              </a:defRPr>
            </a:pPr>
            <a:r>
              <a:t>Future improvement: build a working web or mobile interface and connect it to a secure database.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10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 b="1">
                <a:solidFill>
                  <a:srgbClr val="183153"/>
                </a:solidFill>
                <a:latin typeface="Aptos"/>
              </a:defRPr>
            </a:pPr>
            <a:r>
              <a:t>Screen Shots / Interface Mockups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0197-AF06-5AEF-7EEE-2BB7A4AD930C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11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1051560" y="1874519"/>
            <a:ext cx="3063240" cy="502920"/>
          </a:xfrm>
          <a:prstGeom prst="round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EMPLOYEE LEAVE PORTAL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560320"/>
            <a:ext cx="2880360" cy="2240280"/>
          </a:xfrm>
          <a:prstGeom prst="roundRect">
            <a:avLst/>
          </a:prstGeom>
          <a:solidFill>
            <a:srgbClr val="F6F9FC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A333D"/>
                </a:solidFill>
                <a:latin typeface="Aptos"/>
              </a:defRPr>
            </a:pPr>
            <a:r>
              <a:t>Employee ID:  E102</a:t>
            </a:r>
            <a:br/>
            <a:r>
              <a:t>Leave Type:  Casual Leave</a:t>
            </a:r>
            <a:br/>
            <a:r>
              <a:t>From:  20-10-2026</a:t>
            </a:r>
            <a:br/>
            <a:r>
              <a:t>To:  21-10-2026</a:t>
            </a:r>
            <a:br/>
            <a:r>
              <a:t>Reason:  Personal work</a:t>
            </a:r>
            <a:br/>
            <a:br/>
            <a:r>
              <a:t>[ Submit Request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74519"/>
            <a:ext cx="2971800" cy="502920"/>
          </a:xfrm>
          <a:prstGeom prst="roundRect">
            <a:avLst/>
          </a:prstGeom>
          <a:solidFill>
            <a:srgbClr val="26918C"/>
          </a:solidFill>
          <a:ln>
            <a:solidFill>
              <a:srgbClr val="26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MANAGER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560320"/>
            <a:ext cx="2788920" cy="2240280"/>
          </a:xfrm>
          <a:prstGeom prst="roundRect">
            <a:avLst/>
          </a:prstGeom>
          <a:solidFill>
            <a:srgbClr val="F6F9FC"/>
          </a:solidFill>
          <a:ln>
            <a:solidFill>
              <a:srgbClr val="26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A333D"/>
                </a:solidFill>
                <a:latin typeface="Aptos"/>
              </a:defRPr>
            </a:pPr>
            <a:r>
              <a:t>Request ID:  LR104</a:t>
            </a:r>
            <a:br/>
            <a:r>
              <a:t>Employee:  E102</a:t>
            </a:r>
            <a:br/>
            <a:r>
              <a:t>Days Requested:  2</a:t>
            </a:r>
            <a:br/>
            <a:r>
              <a:t>Balance:  8 days</a:t>
            </a:r>
            <a:br/>
            <a:br/>
            <a:r>
              <a:t>[ Approve ]  [ Reject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874519"/>
            <a:ext cx="2971800" cy="502920"/>
          </a:xfrm>
          <a:prstGeom prst="round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REQUEST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560320"/>
            <a:ext cx="2788920" cy="2240280"/>
          </a:xfrm>
          <a:prstGeom prst="roundRect">
            <a:avLst/>
          </a:prstGeom>
          <a:solidFill>
            <a:srgbClr val="F6F9FC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A333D"/>
                </a:solidFill>
                <a:latin typeface="Aptos"/>
              </a:defRPr>
            </a:pPr>
            <a:r>
              <a:t>Request ID:  LR104</a:t>
            </a:r>
            <a:br/>
            <a:r>
              <a:t>Status:  APPROVED</a:t>
            </a:r>
            <a:br/>
            <a:r>
              <a:t>Approved By:  Manager</a:t>
            </a:r>
            <a:br/>
            <a:r>
              <a:t>Leave Balance:  6 days</a:t>
            </a:r>
            <a:br/>
            <a:br/>
            <a:r>
              <a:t>History: Updated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6636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F6C7A"/>
                </a:solidFill>
                <a:latin typeface="Aptos"/>
              </a:defRPr>
            </a:pPr>
            <a:r>
              <a:t>Note: These are illustrative interface mockups for the presentation, not screenshots of a deployed application.</a:t>
            </a:r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 b="1">
                <a:solidFill>
                  <a:srgbClr val="183153"/>
                </a:solidFill>
                <a:latin typeface="Aptos"/>
              </a:defRPr>
            </a:pPr>
            <a:r>
              <a:t>Geo Tag Photo and 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800" b="1">
                <a:solidFill>
                  <a:srgbClr val="183153"/>
                </a:solidFill>
                <a:latin typeface="Aptos"/>
              </a:defRPr>
            </a:pPr>
            <a:r>
              <a:t>Project repository: Add your GitHub URL here</a:t>
            </a:r>
            <a:endParaRPr lang="en-IN"/>
          </a:p>
          <a:p>
            <a:pPr>
              <a:spcAft>
                <a:spcPts val="800"/>
              </a:spcAft>
              <a:defRPr sz="1800" b="0">
                <a:solidFill>
                  <a:srgbClr val="2A333D"/>
                </a:solidFill>
                <a:latin typeface="Aptos"/>
              </a:defRPr>
            </a:pPr>
            <a:r>
              <a:t>GitHub link: https://github.com/your-team/employee-leave-management-system</a:t>
            </a:r>
          </a:p>
          <a:p>
            <a:pPr>
              <a:spcAft>
                <a:spcPts val="800"/>
              </a:spcAft>
              <a:defRPr sz="1000" b="0">
                <a:solidFill>
                  <a:srgbClr val="2A333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2A333D"/>
                </a:solidFill>
                <a:latin typeface="Aptos"/>
              </a:defRPr>
            </a:pPr>
            <a:r>
              <a:t>Geo-tagged team photo: Insert a real team photo taken at your project location.</a:t>
            </a:r>
          </a:p>
          <a:p>
            <a:pPr>
              <a:spcAft>
                <a:spcPts val="800"/>
              </a:spcAft>
              <a:defRPr sz="1800" b="0">
                <a:solidFill>
                  <a:srgbClr val="2A333D"/>
                </a:solidFill>
                <a:latin typeface="Aptos"/>
              </a:defRPr>
            </a:pPr>
            <a:r>
              <a:t>Suggested details to include: project team, date, location name, and a short caption.</a:t>
            </a:r>
          </a:p>
          <a:p>
            <a:pPr>
              <a:spcAft>
                <a:spcPts val="800"/>
              </a:spcAft>
              <a:defRPr sz="1000" b="0">
                <a:solidFill>
                  <a:srgbClr val="2A333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183153"/>
                </a:solidFill>
                <a:latin typeface="Aptos"/>
              </a:defRPr>
            </a:pPr>
            <a:r>
              <a:t>Before submission:</a:t>
            </a:r>
          </a:p>
          <a:p>
            <a:pPr>
              <a:spcAft>
                <a:spcPts val="800"/>
              </a:spcAft>
              <a:defRPr sz="1800" b="0">
                <a:solidFill>
                  <a:srgbClr val="2A333D"/>
                </a:solidFill>
                <a:latin typeface="Aptos"/>
              </a:defRPr>
            </a:pPr>
            <a:r>
              <a:t>• Replace the sample GitHub URL with your actual repository.</a:t>
            </a:r>
          </a:p>
          <a:p>
            <a:pPr>
              <a:spcAft>
                <a:spcPts val="800"/>
              </a:spcAft>
              <a:defRPr sz="1800" b="0">
                <a:solidFill>
                  <a:srgbClr val="2A333D"/>
                </a:solidFill>
                <a:latin typeface="Aptos"/>
              </a:defRPr>
            </a:pPr>
            <a:r>
              <a:t>• Add your real team names, roll numbers, and team number on Slide 1.</a:t>
            </a:r>
          </a:p>
          <a:p>
            <a:pPr>
              <a:spcAft>
                <a:spcPts val="800"/>
              </a:spcAft>
              <a:defRPr sz="1800" b="0">
                <a:solidFill>
                  <a:srgbClr val="2A333D"/>
                </a:solidFill>
                <a:latin typeface="Aptos"/>
              </a:defRPr>
            </a:pPr>
            <a:r>
              <a:t>• Add your actual geo-tagged photo and screenshots if your implementation is ready.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12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